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C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8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3B23C"/>
                </a:solidFill>
                <a:latin typeface="Calibri"/>
              </a:rPr>
              <a:t>RETAIL MOBILE QUALITY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74519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Mobile Script Generator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060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1F8A70"/>
                </a:solidFill>
                <a:latin typeface="Calibri"/>
              </a:rPr>
              <a:t>Wireframe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52044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D5DEEA"/>
                </a:solidFill>
                <a:latin typeface="Calibri"/>
              </a:rPr>
              <a:t>A wireframe of a shop screen becomes a full shopper test:
what should work, what should be refused, and what sits at the edges.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8521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8B4C4"/>
                </a:solidFill>
                <a:latin typeface="Calibri"/>
              </a:rPr>
              <a:t>Shanmuganathan    ·    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8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8A70"/>
                </a:solidFill>
                <a:latin typeface="Calibri"/>
              </a:rPr>
              <a:t>THE 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E1C36"/>
                </a:solidFill>
                <a:latin typeface="Calibri"/>
              </a:rPr>
              <a:t>Five roles. Each one does one job for the shopper journey.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25880"/>
            <a:ext cx="1124712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545336"/>
            <a:ext cx="2286000" cy="420624"/>
          </a:xfrm>
          <a:prstGeom prst="roundRect">
            <a:avLst>
              <a:gd name="adj" fmla="val 8000"/>
            </a:avLst>
          </a:prstGeom>
          <a:solidFill>
            <a:srgbClr val="1F8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00200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Vision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54680" y="1527048"/>
            <a:ext cx="8321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C2430"/>
                </a:solidFill>
                <a:latin typeface="Calibri"/>
              </a:rPr>
              <a:t>Looks at the wireframe and names the screen, its purpose, and every control a shopper can see.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286000"/>
            <a:ext cx="1124712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2505456"/>
            <a:ext cx="2286000" cy="420624"/>
          </a:xfrm>
          <a:prstGeom prst="roundRect">
            <a:avLst>
              <a:gd name="adj" fmla="val 8000"/>
            </a:avLst>
          </a:prstGeom>
          <a:solidFill>
            <a:srgbClr val="0E1C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560320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Scenario designer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54680" y="2487168"/>
            <a:ext cx="8321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C2430"/>
                </a:solidFill>
                <a:latin typeface="Calibri"/>
              </a:rPr>
              <a:t>Turns that screen into shopping situations: success, refusal, and unusual input.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246120"/>
            <a:ext cx="1124712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40080" y="3465576"/>
            <a:ext cx="2286000" cy="420624"/>
          </a:xfrm>
          <a:prstGeom prst="roundRect">
            <a:avLst>
              <a:gd name="adj" fmla="val 8000"/>
            </a:avLst>
          </a:prstGeom>
          <a:solidFill>
            <a:srgbClr val="1F8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520440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Script writer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54680" y="3447288"/>
            <a:ext cx="8321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C2430"/>
                </a:solidFill>
                <a:latin typeface="Calibri"/>
              </a:rPr>
              <a:t>Writes one check for each situation, ready to run on the store app.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206240"/>
            <a:ext cx="1124712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0080" y="4425696"/>
            <a:ext cx="2286000" cy="420624"/>
          </a:xfrm>
          <a:prstGeom prst="roundRect">
            <a:avLst>
              <a:gd name="adj" fmla="val 8000"/>
            </a:avLst>
          </a:prstGeom>
          <a:solidFill>
            <a:srgbClr val="0E1C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480560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Locator finder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54680" y="4407408"/>
            <a:ext cx="8321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C2430"/>
                </a:solidFill>
                <a:latin typeface="Calibri"/>
              </a:rPr>
              <a:t>On the live phone, finds the button or field by what it says, not by a fixed map.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5166360"/>
            <a:ext cx="1124712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40080" y="5385816"/>
            <a:ext cx="2286000" cy="420624"/>
          </a:xfrm>
          <a:prstGeom prst="roundRect">
            <a:avLst>
              <a:gd name="adj" fmla="val 8000"/>
            </a:avLst>
          </a:prstGeom>
          <a:solidFill>
            <a:srgbClr val="1F8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5440680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Reporter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54680" y="5367528"/>
            <a:ext cx="8321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C2430"/>
                </a:solidFill>
                <a:latin typeface="Calibri"/>
              </a:rPr>
              <a:t>Tells the team what passed, what failed, how long it took, and shows the screen when something breaks.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510528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D6B7B"/>
                </a:solidFill>
                <a:latin typeface="Calibri"/>
              </a:rPr>
              <a:t>Mobile Script Generator  ·  Wireframe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24160" y="6510528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D6B7B"/>
                </a:solidFill>
                <a:latin typeface="Calibri"/>
              </a:rPr>
              <a:t>2  /  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8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8A70"/>
                </a:solidFill>
                <a:latin typeface="Calibri"/>
              </a:rPr>
              <a:t>THE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E1C36"/>
                </a:solidFill>
                <a:latin typeface="Calibri"/>
              </a:rPr>
              <a:t>From a picture of the shop to a result the business can read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554480"/>
            <a:ext cx="2212848" cy="3246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70432" y="1783080"/>
            <a:ext cx="566928" cy="566928"/>
          </a:xfrm>
          <a:prstGeom prst="ellipse">
            <a:avLst/>
          </a:prstGeom>
          <a:solidFill>
            <a:srgbClr val="1F8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70432" y="1883664"/>
            <a:ext cx="5669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2514600"/>
            <a:ext cx="199339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E1C36"/>
                </a:solidFill>
                <a:latin typeface="Calibri"/>
              </a:rPr>
              <a:t>See the screen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" y="3200400"/>
            <a:ext cx="1920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5D6B7B"/>
                </a:solidFill>
                <a:latin typeface="Calibri"/>
              </a:rPr>
              <a:t>A wireframe of login, catalog, product, cart, or checkout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24912" y="1554480"/>
            <a:ext cx="2212848" cy="3246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529584" y="1783080"/>
            <a:ext cx="566928" cy="566928"/>
          </a:xfrm>
          <a:prstGeom prst="ellipse">
            <a:avLst/>
          </a:prstGeom>
          <a:solidFill>
            <a:srgbClr val="1F8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29584" y="1883664"/>
            <a:ext cx="5669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2514600"/>
            <a:ext cx="199339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E1C36"/>
                </a:solidFill>
                <a:latin typeface="Calibri"/>
              </a:rPr>
              <a:t>Understand 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71216" y="3200400"/>
            <a:ext cx="1920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5D6B7B"/>
                </a:solidFill>
                <a:latin typeface="Calibri"/>
              </a:rPr>
              <a:t>What the screen is for, and which controls matter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84064" y="1554480"/>
            <a:ext cx="2212848" cy="3246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888736" y="1783080"/>
            <a:ext cx="566928" cy="566928"/>
          </a:xfrm>
          <a:prstGeom prst="ellipse">
            <a:avLst/>
          </a:prstGeom>
          <a:solidFill>
            <a:srgbClr val="1F8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88736" y="1883664"/>
            <a:ext cx="5669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93792" y="2514600"/>
            <a:ext cx="199339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E1C36"/>
                </a:solidFill>
                <a:latin typeface="Calibri"/>
              </a:rPr>
              <a:t>Design checks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30368" y="3200400"/>
            <a:ext cx="1920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5D6B7B"/>
                </a:solidFill>
                <a:latin typeface="Calibri"/>
              </a:rPr>
              <a:t>A mix of good, bad, and edge shopper behavior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43216" y="1554480"/>
            <a:ext cx="2212848" cy="3246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247888" y="1783080"/>
            <a:ext cx="566928" cy="566928"/>
          </a:xfrm>
          <a:prstGeom prst="ellipse">
            <a:avLst/>
          </a:prstGeom>
          <a:solidFill>
            <a:srgbClr val="1F8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47888" y="1883664"/>
            <a:ext cx="5669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52944" y="2514600"/>
            <a:ext cx="199339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E1C36"/>
                </a:solidFill>
                <a:latin typeface="Calibri"/>
              </a:rPr>
              <a:t>Run the shop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20" y="3200400"/>
            <a:ext cx="1920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5D6B7B"/>
                </a:solidFill>
                <a:latin typeface="Calibri"/>
              </a:rPr>
              <a:t>Each check is played on the live demo store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802368" y="1554480"/>
            <a:ext cx="2212848" cy="3246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607040" y="1783080"/>
            <a:ext cx="566928" cy="566928"/>
          </a:xfrm>
          <a:prstGeom prst="ellipse">
            <a:avLst/>
          </a:prstGeom>
          <a:solidFill>
            <a:srgbClr val="E3B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607040" y="1883664"/>
            <a:ext cx="5669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12096" y="2514600"/>
            <a:ext cx="199339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E1C36"/>
                </a:solidFill>
                <a:latin typeface="Calibri"/>
              </a:rPr>
              <a:t>Show the outcome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48672" y="3200400"/>
            <a:ext cx="1920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5D6B7B"/>
                </a:solidFill>
                <a:latin typeface="Calibri"/>
              </a:rPr>
              <a:t>A clear report, not a raw log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507492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C2430"/>
                </a:solidFill>
                <a:latin typeface="Calibri"/>
              </a:rPr>
              <a:t>Review the checks first, with no phone. Run them when the store app and a device are ready.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510528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D6B7B"/>
                </a:solidFill>
                <a:latin typeface="Calibri"/>
              </a:rPr>
              <a:t>Mobile Script Generator  ·  Wireframe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424160" y="6510528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D6B7B"/>
                </a:solidFill>
                <a:latin typeface="Calibri"/>
              </a:rPr>
              <a:t>3  /  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8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8A70"/>
                </a:solidFill>
                <a:latin typeface="Calibri"/>
              </a:rPr>
              <a:t>SCENARIO MIX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E1C36"/>
                </a:solidFill>
                <a:latin typeface="Calibri"/>
              </a:rPr>
              <a:t>Every screen is tested as a shopper would actually use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61872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D6B7B"/>
                </a:solidFill>
                <a:latin typeface="Calibri"/>
              </a:rPr>
              <a:t>The script writer does not stop at “it works.” Each wireframe gets three kinds of check, using only what is on that screen.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828800"/>
            <a:ext cx="3703320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8" y="19659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8A70"/>
                </a:solidFill>
                <a:latin typeface="Calibri"/>
              </a:rPr>
              <a:t>Positive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2359152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E1C36"/>
                </a:solidFill>
                <a:latin typeface="Calibri"/>
              </a:rPr>
              <a:t>The happy shopper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2788920"/>
            <a:ext cx="32918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C2430"/>
                </a:solidFill>
                <a:latin typeface="Calibri"/>
              </a:rPr>
              <a:t>Right account, a real product search, quantity 1, a valid offer, a complete checkout.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828800"/>
            <a:ext cx="3703320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98848" y="19659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C44545"/>
                </a:solidFill>
                <a:latin typeface="Calibri"/>
              </a:rPr>
              <a:t>Negative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98848" y="2359152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E1C36"/>
                </a:solidFill>
                <a:latin typeface="Calibri"/>
              </a:rPr>
              <a:t>The blocked shopper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98848" y="2788920"/>
            <a:ext cx="32918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C2430"/>
                </a:solidFill>
                <a:latin typeface="Calibri"/>
              </a:rPr>
              <a:t>Locked account, wrong password, empty search, a fake offer code, a missing card.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79" y="1828800"/>
            <a:ext cx="3703320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85047" y="19659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8A70"/>
                </a:solidFill>
                <a:latin typeface="Calibri"/>
              </a:rPr>
              <a:t>Edge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5047" y="2359152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E1C36"/>
                </a:solidFill>
                <a:latin typeface="Calibri"/>
              </a:rPr>
              <a:t>The unusual shopper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5047" y="2788920"/>
            <a:ext cx="32918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C2430"/>
                </a:solidFill>
                <a:latin typeface="Calibri"/>
              </a:rPr>
              <a:t>Blank spaces, very long text, quantity 0 and 99, odd characters in a field.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34340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E1C36"/>
                </a:solidFill>
                <a:latin typeface="Calibri"/>
              </a:rPr>
              <a:t>Sign 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434340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C2430"/>
                </a:solidFill>
                <a:latin typeface="Calibri"/>
              </a:rPr>
              <a:t>Known shoppers and a visual user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20640" y="434340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C2430"/>
                </a:solidFill>
                <a:latin typeface="Calibri"/>
              </a:rPr>
              <a:t>Locked out, bad password, blanks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0" y="434340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C2430"/>
                </a:solidFill>
                <a:latin typeface="Calibri"/>
              </a:rPr>
              <a:t>Spaces and oversized text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98348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E1C36"/>
                </a:solidFill>
                <a:latin typeface="Calibri"/>
              </a:rPr>
              <a:t>Browse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498348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C2430"/>
                </a:solidFill>
                <a:latin typeface="Calibri"/>
              </a:rPr>
              <a:t>Find “backpack”, scroll the catalog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0640" y="498348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C2430"/>
                </a:solidFill>
                <a:latin typeface="Calibri"/>
              </a:rPr>
              <a:t>Empty search, no such product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0" y="498348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C2430"/>
                </a:solidFill>
                <a:latin typeface="Calibri"/>
              </a:rPr>
              <a:t>A very long or odd search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562356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E1C36"/>
                </a:solidFill>
                <a:latin typeface="Calibri"/>
              </a:rPr>
              <a:t>Buy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28800" y="562356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C2430"/>
                </a:solidFill>
                <a:latin typeface="Calibri"/>
              </a:rPr>
              <a:t>Add one item, valid offer, pay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20640" y="562356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C2430"/>
                </a:solidFill>
                <a:latin typeface="Calibri"/>
              </a:rPr>
              <a:t>Zero quantity, fake offer, missing card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3920" y="562356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C2430"/>
                </a:solidFill>
                <a:latin typeface="Calibri"/>
              </a:rPr>
              <a:t>Quantity 99 and odd address text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510528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D6B7B"/>
                </a:solidFill>
                <a:latin typeface="Calibri"/>
              </a:rPr>
              <a:t>Mobile Script Generator  ·  Wireframe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424160" y="6510528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D6B7B"/>
                </a:solidFill>
                <a:latin typeface="Calibri"/>
              </a:rPr>
              <a:t>4  /  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8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8A70"/>
                </a:solidFill>
                <a:latin typeface="Calibri"/>
              </a:rPr>
              <a:t>FINDING THE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E1C36"/>
                </a:solidFill>
                <a:latin typeface="Calibri"/>
              </a:rPr>
              <a:t>The test looks at the live shop, then chooses what to tap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25880"/>
            <a:ext cx="1124712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" y="1472184"/>
            <a:ext cx="566928" cy="566928"/>
          </a:xfrm>
          <a:prstGeom prst="ellipse">
            <a:avLst/>
          </a:prstGeom>
          <a:solidFill>
            <a:srgbClr val="1F8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81912"/>
            <a:ext cx="5669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435608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E1C36"/>
                </a:solidFill>
                <a:latin typeface="Calibri"/>
              </a:rPr>
              <a:t>Open the screen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1472184"/>
            <a:ext cx="6949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C2430"/>
                </a:solidFill>
                <a:latin typeface="Calibri"/>
              </a:rPr>
              <a:t>The shop app is on the phone. A pop-up from the phone itself is closed first so it cannot hide the store.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286000"/>
            <a:ext cx="1124712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0080" y="2432304"/>
            <a:ext cx="566928" cy="566928"/>
          </a:xfrm>
          <a:prstGeom prst="ellipse">
            <a:avLst/>
          </a:prstGeom>
          <a:solidFill>
            <a:srgbClr val="1F8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542032"/>
            <a:ext cx="5669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2395728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E1C36"/>
                </a:solidFill>
                <a:latin typeface="Calibri"/>
              </a:rPr>
              <a:t>Read what is visible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2432304"/>
            <a:ext cx="6949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C2430"/>
                </a:solidFill>
                <a:latin typeface="Calibri"/>
              </a:rPr>
              <a:t>The finder looks at the words on the screen: Menu, Log in, search, price, Add to cart.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246120"/>
            <a:ext cx="1124712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0080" y="3392424"/>
            <a:ext cx="566928" cy="566928"/>
          </a:xfrm>
          <a:prstGeom prst="ellipse">
            <a:avLst/>
          </a:prstGeom>
          <a:solidFill>
            <a:srgbClr val="1F8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502152"/>
            <a:ext cx="5669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3355848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E1C36"/>
                </a:solidFill>
                <a:latin typeface="Calibri"/>
              </a:rPr>
              <a:t>Match the wireframe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3392424"/>
            <a:ext cx="6949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C2430"/>
                </a:solidFill>
                <a:latin typeface="Calibri"/>
              </a:rPr>
              <a:t>It pairs each step with the control that says the same thing the wireframe named.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4206240"/>
            <a:ext cx="1124712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0080" y="4352544"/>
            <a:ext cx="566928" cy="566928"/>
          </a:xfrm>
          <a:prstGeom prst="ellipse">
            <a:avLst/>
          </a:prstGeom>
          <a:solidFill>
            <a:srgbClr val="1F8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462272"/>
            <a:ext cx="5669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17320" y="4315968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E1C36"/>
                </a:solidFill>
                <a:latin typeface="Calibri"/>
              </a:rPr>
              <a:t>Prefer the real store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60" y="4352544"/>
            <a:ext cx="6949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C2430"/>
                </a:solidFill>
                <a:latin typeface="Calibri"/>
              </a:rPr>
              <a:t>If the demo shop’s own menu, login, or cart control is on screen, that one is used.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5166360"/>
            <a:ext cx="1124712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40080" y="5312664"/>
            <a:ext cx="566928" cy="566928"/>
          </a:xfrm>
          <a:prstGeom prst="ellipse">
            <a:avLst/>
          </a:prstGeom>
          <a:solidFill>
            <a:srgbClr val="1F8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5422392"/>
            <a:ext cx="5669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17320" y="5276088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E1C36"/>
                </a:solidFill>
                <a:latin typeface="Calibri"/>
              </a:rPr>
              <a:t>Remember the choice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80560" y="5312664"/>
            <a:ext cx="6949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C2430"/>
                </a:solidFill>
                <a:latin typeface="Calibri"/>
              </a:rPr>
              <a:t>The match is kept for that check and written down, so the report can show what was used.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510528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D6B7B"/>
                </a:solidFill>
                <a:latin typeface="Calibri"/>
              </a:rPr>
              <a:t>Mobile Script Generator  ·  Wireframe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424160" y="6510528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D6B7B"/>
                </a:solidFill>
                <a:latin typeface="Calibri"/>
              </a:rPr>
              <a:t>5  /  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8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8A70"/>
                </a:solidFill>
                <a:latin typeface="Calibri"/>
              </a:rPr>
              <a:t>THE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E1C36"/>
                </a:solidFill>
                <a:latin typeface="Calibri"/>
              </a:rPr>
              <a:t>A result a product owner can read without opening a log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417320"/>
            <a:ext cx="370332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8" y="1618488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E1C36"/>
                </a:solidFill>
                <a:latin typeface="Calibri"/>
              </a:rPr>
              <a:t>The headline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2148840"/>
            <a:ext cx="3291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C2430"/>
                </a:solidFill>
                <a:latin typeface="Calibri"/>
              </a:rPr>
              <a:t>Passed, or needs attention, with the share of checks that succeeded.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417320"/>
            <a:ext cx="370332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98848" y="1618488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E1C36"/>
                </a:solidFill>
                <a:latin typeface="Calibri"/>
              </a:rPr>
              <a:t>The numbers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98848" y="2148840"/>
            <a:ext cx="3291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C2430"/>
                </a:solidFill>
                <a:latin typeface="Calibri"/>
              </a:rPr>
              <a:t>How many ran, passed, failed, were skipped, and how long the run took.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79" y="1417320"/>
            <a:ext cx="370332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85047" y="1618488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E1C36"/>
                </a:solidFill>
                <a:latin typeface="Calibri"/>
              </a:rPr>
              <a:t>The pictures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5047" y="2148840"/>
            <a:ext cx="3291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C2430"/>
                </a:solidFill>
                <a:latin typeface="Calibri"/>
              </a:rPr>
              <a:t>A ring of outcomes, and a bar showing which check took the longest.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" y="3749039"/>
            <a:ext cx="370332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" y="3950207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E1C36"/>
                </a:solidFill>
                <a:latin typeface="Calibri"/>
              </a:rPr>
              <a:t>The list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" y="4480559"/>
            <a:ext cx="3291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C2430"/>
                </a:solidFill>
                <a:latin typeface="Calibri"/>
              </a:rPr>
              <a:t>Each check in plain words, tagged Positive, Negative, or Edge.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0" y="3749039"/>
            <a:ext cx="370332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98848" y="3950207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E1C36"/>
                </a:solidFill>
                <a:latin typeface="Calibri"/>
              </a:rPr>
              <a:t>The evidence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98848" y="4480559"/>
            <a:ext cx="3291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C2430"/>
                </a:solidFill>
                <a:latin typeface="Calibri"/>
              </a:rPr>
              <a:t>If a check fails, the reason opens under the row, with a photo of the phone.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83879" y="3749039"/>
            <a:ext cx="370332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85047" y="3950207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E1C36"/>
                </a:solidFill>
                <a:latin typeface="Calibri"/>
              </a:rPr>
              <a:t>The audience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85047" y="4480559"/>
            <a:ext cx="3291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C2430"/>
                </a:solidFill>
                <a:latin typeface="Calibri"/>
              </a:rPr>
              <a:t>QA, product, and demo reviewers see the same page. It opens when the run finishes.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510528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D6B7B"/>
                </a:solidFill>
                <a:latin typeface="Calibri"/>
              </a:rPr>
              <a:t>Mobile Script Generator  ·  Wireframe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24160" y="6510528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D6B7B"/>
                </a:solidFill>
                <a:latin typeface="Calibri"/>
              </a:rPr>
              <a:t>6  /  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8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8A70"/>
                </a:solidFill>
                <a:latin typeface="Calibri"/>
              </a:rPr>
              <a:t>WHY IT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E1C36"/>
                </a:solidFill>
                <a:latin typeface="Calibri"/>
              </a:rPr>
              <a:t>Coverage follows the wireframe, not a single happy path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17320"/>
            <a:ext cx="5623560" cy="4709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73152" cy="4709160"/>
          </a:xfrm>
          <a:prstGeom prst="rect">
            <a:avLst/>
          </a:prstGeom>
          <a:solidFill>
            <a:srgbClr val="1F8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563624"/>
            <a:ext cx="5257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E1C36"/>
                </a:solidFill>
                <a:latin typeface="Calibri"/>
              </a:rPr>
              <a:t>For the business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920240"/>
            <a:ext cx="521208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C2430"/>
                </a:solidFill>
                <a:latin typeface="Calibri"/>
              </a:rPr>
              <a:t>A new shop screen can be tested from its wireframe.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C2430"/>
                </a:solidFill>
                <a:latin typeface="Calibri"/>
              </a:rPr>
              <a:t>Login, browse, product, cart, and checkout each get their own mix.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C2430"/>
                </a:solidFill>
                <a:latin typeface="Calibri"/>
              </a:rPr>
              <a:t>Risk shows up as a refused login, a bad offer, or a broken checkout, not as one green login.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C2430"/>
                </a:solidFill>
                <a:latin typeface="Calibri"/>
              </a:rPr>
              <a:t>The report is ready to show in a review.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417320"/>
            <a:ext cx="5394960" cy="4709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417320"/>
            <a:ext cx="73152" cy="4709160"/>
          </a:xfrm>
          <a:prstGeom prst="rect">
            <a:avLst/>
          </a:prstGeom>
          <a:solidFill>
            <a:srgbClr val="E3B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65392" y="1563624"/>
            <a:ext cx="5029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E1C36"/>
                </a:solidFill>
                <a:latin typeface="Calibri"/>
              </a:rPr>
              <a:t>What is in place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5392" y="1920240"/>
            <a:ext cx="498348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C2430"/>
                </a:solidFill>
                <a:latin typeface="Calibri"/>
              </a:rPr>
              <a:t>Vision, scenario design, script writing, live control finding, and reporting.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C2430"/>
                </a:solidFill>
                <a:latin typeface="Calibri"/>
              </a:rPr>
              <a:t>Retail examples: real shopper, locked account, backpack search, quantity, offer code, payment fields.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C2430"/>
                </a:solidFill>
                <a:latin typeface="Calibri"/>
              </a:rPr>
              <a:t>Demo store: Sauce Labs My Demo App.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C2430"/>
                </a:solidFill>
                <a:latin typeface="Calibri"/>
              </a:rPr>
              <a:t>Same story for any later wireframe of the same shop.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510528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D6B7B"/>
                </a:solidFill>
                <a:latin typeface="Calibri"/>
              </a:rPr>
              <a:t>Mobile Script Generator  ·  Wireframe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24160" y="6510528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D6B7B"/>
                </a:solidFill>
                <a:latin typeface="Calibri"/>
              </a:rPr>
              <a:t>7  /  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